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Urbanist SemiBold"/>
      <p:regular r:id="rId30"/>
      <p:bold r:id="rId31"/>
      <p:italic r:id="rId32"/>
      <p:boldItalic r:id="rId33"/>
    </p:embeddedFont>
    <p:embeddedFont>
      <p:font typeface="Urbanist Medium"/>
      <p:regular r:id="rId34"/>
      <p:bold r:id="rId35"/>
      <p:italic r:id="rId36"/>
      <p:boldItalic r:id="rId37"/>
    </p:embeddedFont>
    <p:embeddedFont>
      <p:font typeface="Urbanist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4AECD1-4F05-4F3D-A0D8-0E15833E3F2D}">
  <a:tblStyle styleId="{194AECD1-4F05-4F3D-A0D8-0E15833E3F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italic.fntdata"/><Relationship Id="rId20" Type="http://schemas.openxmlformats.org/officeDocument/2006/relationships/slide" Target="slides/slide14.xml"/><Relationship Id="rId42" Type="http://schemas.openxmlformats.org/officeDocument/2006/relationships/font" Target="fonts/RobotoMono-regular.fntdata"/><Relationship Id="rId41" Type="http://schemas.openxmlformats.org/officeDocument/2006/relationships/font" Target="fonts/Urbanist-boldItalic.fntdata"/><Relationship Id="rId22" Type="http://schemas.openxmlformats.org/officeDocument/2006/relationships/slide" Target="slides/slide16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bold.fntdata"/><Relationship Id="rId30" Type="http://schemas.openxmlformats.org/officeDocument/2006/relationships/font" Target="fonts/Urbanist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Urbanist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UrbanistSemiBold-italic.fntdata"/><Relationship Id="rId13" Type="http://schemas.openxmlformats.org/officeDocument/2006/relationships/slide" Target="slides/slide7.xml"/><Relationship Id="rId35" Type="http://schemas.openxmlformats.org/officeDocument/2006/relationships/font" Target="fonts/UrbanistMedium-bold.fntdata"/><Relationship Id="rId12" Type="http://schemas.openxmlformats.org/officeDocument/2006/relationships/slide" Target="slides/slide6.xml"/><Relationship Id="rId34" Type="http://schemas.openxmlformats.org/officeDocument/2006/relationships/font" Target="fonts/UrbanistMedium-regular.fntdata"/><Relationship Id="rId15" Type="http://schemas.openxmlformats.org/officeDocument/2006/relationships/slide" Target="slides/slide9.xml"/><Relationship Id="rId37" Type="http://schemas.openxmlformats.org/officeDocument/2006/relationships/font" Target="fonts/Urbanist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UrbanistMedium-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bold.fntdata"/><Relationship Id="rId16" Type="http://schemas.openxmlformats.org/officeDocument/2006/relationships/slide" Target="slides/slide10.xml"/><Relationship Id="rId38" Type="http://schemas.openxmlformats.org/officeDocument/2006/relationships/font" Target="fonts/Urbanis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849ca2d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2849ca2d2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2849ca2d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2849ca2d2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2849ca2d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2849ca2d2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2849ca2d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2849ca2d2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2849ca2d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2849ca2d2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2849ca2d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2849ca2d2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2849ca2d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2849ca2d2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2849ca2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2849ca2d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2849ca2d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2849ca2d2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2849ca2d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2849ca2d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2849ca2d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2849ca2d2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2328862"/>
            <a:ext cx="9001200" cy="205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600">
                <a:solidFill>
                  <a:srgbClr val="1F2328"/>
                </a:solidFill>
                <a:highlight>
                  <a:srgbClr val="FFFFFF"/>
                </a:highlight>
              </a:rPr>
              <a:t> </a:t>
            </a:r>
            <a:endParaRPr sz="46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998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488977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Comprehensive Machine Learning Framework for Predicting Loan Defaults using Advanced Tree-Based Architectures and SHAP Explainability.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0" y="484250"/>
            <a:ext cx="12192000" cy="17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600">
                <a:solidFill>
                  <a:srgbClr val="1F2328"/>
                </a:solidFill>
                <a:highlight>
                  <a:srgbClr val="FFFFFF"/>
                </a:highlight>
              </a:rPr>
              <a:t>         Loan Default Risk Classification</a:t>
            </a:r>
            <a:endParaRPr sz="46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830466" y="2328862"/>
            <a:ext cx="853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Project Foundation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809750" y="3488977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Strategic objectives and dataset profiling for high-precision credit risk assessment.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39863"/>
            <a:ext cx="5048250" cy="4009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9863"/>
            <a:ext cx="5048250" cy="400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152525" y="3373338"/>
            <a:ext cx="448056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Challenge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152525" y="3973413"/>
            <a:ext cx="42672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Financial institutions face systemic losses due to inaccurate default predictions. Traditional scoring models often overlook subtle, non-linear interactions between borrower attributes and economic shifts.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3373338"/>
            <a:ext cx="448056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Solution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72275" y="3973413"/>
            <a:ext cx="42672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Developing a robust predictive pipeline prioritizing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Recall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catch defaults early. Maximizing the detection rate allows credit divisions to isolate high-risk profiles before exposure happens.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266848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668488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Executive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Overview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9863"/>
            <a:ext cx="5048250" cy="429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2239863"/>
            <a:ext cx="530066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Feature Behavior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772275" y="2630388"/>
            <a:ext cx="448056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Profile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772275" y="3230463"/>
            <a:ext cx="42672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307K+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Total Applicants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100+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Initial Feature Space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8%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Defaulter Minority Class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Highly Predictive Features Retained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90625" y="2801838"/>
            <a:ext cx="4619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EXT_SOURCE_2: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Emerged as the primary discriminator; lower scores correlate exponentially with default risk.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90625" y="4045446"/>
            <a:ext cx="4619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Income Distributions: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Applied Log transformation to normalize right-skewed income data, stabilizing gradient descent.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90625" y="5289053"/>
            <a:ext cx="4619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Leverage Ratios: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Engineered Loan-to-Income features to capture borrower debt capacity beyond absolute credit limits.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Dataset &amp; Exploratory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Insights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0183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4544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2890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762000" y="3446115"/>
            <a:ext cx="10668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1792485" y="316036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5715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03328" y="3731865"/>
            <a:ext cx="246421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Pruning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4331940"/>
            <a:ext cx="234687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Removed features with &gt;50% missing values to ensure data quality.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4566195" y="316036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5715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3477037" y="3731865"/>
            <a:ext cx="246421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Imputation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535709" y="4331940"/>
            <a:ext cx="234687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Numeric: Median fill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Categorical: Mode fill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339905" y="316036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5715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250747" y="3731865"/>
            <a:ext cx="246421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Selection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309419" y="4722465"/>
            <a:ext cx="234687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 features retained via correlation and domain logic.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10113615" y="316036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5715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9024457" y="3731865"/>
            <a:ext cx="246421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Standardization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083129" y="4331940"/>
            <a:ext cx="234687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StandardScaler applied to normalize input variance.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Preprocessing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Pipeline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650444" y="1906365"/>
            <a:ext cx="88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5600" y="2121763"/>
            <a:ext cx="5391150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263875" y="426275"/>
            <a:ext cx="8351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 Variable Distribution: Addressing Class Imbalance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9383725" y="3688525"/>
            <a:ext cx="283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759825" y="2050150"/>
            <a:ext cx="35058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Visualizing the target variable reveals a heavy </a:t>
            </a:r>
            <a:r>
              <a:rPr b="1" lang="en-US" sz="1800">
                <a:solidFill>
                  <a:schemeClr val="lt1"/>
                </a:solidFill>
              </a:rPr>
              <a:t>92% (Non-Default)</a:t>
            </a:r>
            <a:r>
              <a:rPr lang="en-US" sz="1800">
                <a:solidFill>
                  <a:schemeClr val="lt1"/>
                </a:solidFill>
              </a:rPr>
              <a:t> to </a:t>
            </a:r>
            <a:r>
              <a:rPr b="1" lang="en-US" sz="1800">
                <a:solidFill>
                  <a:schemeClr val="lt1"/>
                </a:solidFill>
              </a:rPr>
              <a:t>8% (Default)</a:t>
            </a:r>
            <a:r>
              <a:rPr lang="en-US" sz="1800">
                <a:solidFill>
                  <a:schemeClr val="lt1"/>
                </a:solidFill>
              </a:rPr>
              <a:t> split.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The Risk:</a:t>
            </a:r>
            <a:r>
              <a:rPr lang="en-US" sz="1800">
                <a:solidFill>
                  <a:schemeClr val="lt1"/>
                </a:solidFill>
              </a:rPr>
              <a:t> This extreme skew introduces severe algorithmic bias, where models naturally favor the majority class to inflate overall accuracy.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The Strategy:</a:t>
            </a:r>
            <a:r>
              <a:rPr lang="en-US" sz="1800">
                <a:solidFill>
                  <a:schemeClr val="lt1"/>
                </a:solidFill>
              </a:rPr>
              <a:t> Highlighting this imbalance justifies why we shifted our evaluation metrics away from raw accuracy to focus strictly on </a:t>
            </a:r>
            <a:r>
              <a:rPr b="1" lang="en-US" sz="1800">
                <a:solidFill>
                  <a:schemeClr val="lt1"/>
                </a:solidFill>
              </a:rPr>
              <a:t>Recall</a:t>
            </a:r>
            <a:r>
              <a:rPr lang="en-US" sz="1800">
                <a:solidFill>
                  <a:schemeClr val="lt1"/>
                </a:solidFill>
              </a:rPr>
              <a:t> and </a:t>
            </a:r>
            <a:r>
              <a:rPr b="1" lang="en-US" sz="1800">
                <a:solidFill>
                  <a:schemeClr val="lt1"/>
                </a:solidFill>
              </a:rPr>
              <a:t>ROC-AUC</a:t>
            </a:r>
            <a:r>
              <a:rPr lang="en-US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650444" y="1906365"/>
            <a:ext cx="88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263875" y="426275"/>
            <a:ext cx="835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Risk Distribution: </a:t>
            </a:r>
            <a:r>
              <a:rPr b="1" lang="en-US" sz="2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EXT_SOURCE_2</a:t>
            </a:r>
            <a:r>
              <a:rPr b="1" lang="en-US" sz="2300">
                <a:solidFill>
                  <a:schemeClr val="lt1"/>
                </a:solidFill>
              </a:rPr>
              <a:t> vs. Default Status</a:t>
            </a:r>
            <a:r>
              <a:rPr lang="en-US" sz="2300">
                <a:solidFill>
                  <a:schemeClr val="lt1"/>
                </a:solidFill>
              </a:rPr>
              <a:t> </a:t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9383725" y="3688525"/>
            <a:ext cx="283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7600325" y="1151225"/>
            <a:ext cx="35058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Strong Predictor:</a:t>
            </a:r>
            <a:r>
              <a:rPr lang="en-US" sz="1900">
                <a:solidFill>
                  <a:schemeClr val="lt1"/>
                </a:solidFill>
              </a:rPr>
              <a:t> Clear separation between groups shows this feature is highly effective at identifying risk.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Higher Scores, Less Risk:</a:t>
            </a:r>
            <a:r>
              <a:rPr lang="en-US" sz="1900">
                <a:solidFill>
                  <a:schemeClr val="lt1"/>
                </a:solidFill>
              </a:rPr>
              <a:t> Non-defaulters (0) have a significantly higher median score (</a:t>
            </a:r>
            <a:r>
              <a:rPr b="1" lang="en-US" sz="1900">
                <a:solidFill>
                  <a:schemeClr val="lt1"/>
                </a:solidFill>
              </a:rPr>
              <a:t>~0.58</a:t>
            </a:r>
            <a:r>
              <a:rPr lang="en-US" sz="1900">
                <a:solidFill>
                  <a:schemeClr val="lt1"/>
                </a:solidFill>
              </a:rPr>
              <a:t>).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Lower Scores, Higher Risk:</a:t>
            </a:r>
            <a:r>
              <a:rPr lang="en-US" sz="1900">
                <a:solidFill>
                  <a:schemeClr val="lt1"/>
                </a:solidFill>
              </a:rPr>
              <a:t> Defaulters (1) are heavily concentrated at lower score ranges, averaging a median of </a:t>
            </a:r>
            <a:r>
              <a:rPr b="1" lang="en-US" sz="1900">
                <a:solidFill>
                  <a:schemeClr val="lt1"/>
                </a:solidFill>
              </a:rPr>
              <a:t>~0.44</a:t>
            </a:r>
            <a:r>
              <a:rPr lang="en-US" sz="1900">
                <a:solidFill>
                  <a:schemeClr val="lt1"/>
                </a:solidFill>
              </a:rPr>
              <a:t>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2827" y="1321125"/>
            <a:ext cx="5480601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1650444" y="1906365"/>
            <a:ext cx="88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263875" y="426275"/>
            <a:ext cx="835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Key Correlations with Target Variable </a:t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383725" y="3688525"/>
            <a:ext cx="283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107375" y="1223700"/>
            <a:ext cx="4335300" cy="60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Key Insights:</a:t>
            </a:r>
            <a:endParaRPr b="1" sz="17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Strongest Risk Predictor:</a:t>
            </a:r>
            <a:r>
              <a:rPr lang="en-US" sz="1500">
                <a:solidFill>
                  <a:schemeClr val="lt1"/>
                </a:solidFill>
              </a:rPr>
              <a:t> </a:t>
            </a:r>
            <a:r>
              <a:rPr lang="en-US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EXT_SOURCE_2</a:t>
            </a:r>
            <a:r>
              <a:rPr lang="en-US" sz="1500">
                <a:solidFill>
                  <a:schemeClr val="lt1"/>
                </a:solidFill>
              </a:rPr>
              <a:t> has the highest correlation with default risk (</a:t>
            </a:r>
            <a:r>
              <a:rPr b="1" lang="en-US" sz="1500">
                <a:solidFill>
                  <a:schemeClr val="lt1"/>
                </a:solidFill>
              </a:rPr>
              <a:t>-0.16</a:t>
            </a:r>
            <a:r>
              <a:rPr lang="en-US" sz="1500">
                <a:solidFill>
                  <a:schemeClr val="lt1"/>
                </a:solidFill>
              </a:rPr>
              <a:t>); higher scores mean lower risk.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Age Factor:</a:t>
            </a:r>
            <a:r>
              <a:rPr lang="en-US" sz="1500">
                <a:solidFill>
                  <a:schemeClr val="lt1"/>
                </a:solidFill>
              </a:rPr>
              <a:t> </a:t>
            </a:r>
            <a:r>
              <a:rPr lang="en-US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DAYS_BIRTH</a:t>
            </a:r>
            <a:r>
              <a:rPr lang="en-US" sz="1500">
                <a:solidFill>
                  <a:schemeClr val="lt1"/>
                </a:solidFill>
              </a:rPr>
              <a:t> indicates younger applicants carry a slightly higher risk of default (</a:t>
            </a:r>
            <a:r>
              <a:rPr b="1" lang="en-US" sz="1500">
                <a:solidFill>
                  <a:schemeClr val="lt1"/>
                </a:solidFill>
              </a:rPr>
              <a:t>0.078</a:t>
            </a:r>
            <a:r>
              <a:rPr lang="en-US" sz="1500">
                <a:solidFill>
                  <a:schemeClr val="lt1"/>
                </a:solidFill>
              </a:rPr>
              <a:t>).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Feature Redundancy:</a:t>
            </a:r>
            <a:r>
              <a:rPr lang="en-US" sz="1500">
                <a:solidFill>
                  <a:schemeClr val="lt1"/>
                </a:solidFill>
              </a:rPr>
              <a:t> Loan amount features (</a:t>
            </a:r>
            <a:r>
              <a:rPr lang="en-US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AMT_CREDIT</a:t>
            </a:r>
            <a:r>
              <a:rPr lang="en-US" sz="1500">
                <a:solidFill>
                  <a:schemeClr val="lt1"/>
                </a:solidFill>
              </a:rPr>
              <a:t>, </a:t>
            </a:r>
            <a:r>
              <a:rPr lang="en-US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AMT_GOODS_PRICE</a:t>
            </a:r>
            <a:r>
              <a:rPr lang="en-US" sz="1500">
                <a:solidFill>
                  <a:schemeClr val="lt1"/>
                </a:solidFill>
              </a:rPr>
              <a:t>, </a:t>
            </a:r>
            <a:r>
              <a:rPr lang="en-US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AMT_ANNUITY</a:t>
            </a:r>
            <a:r>
              <a:rPr lang="en-US" sz="1500">
                <a:solidFill>
                  <a:schemeClr val="lt1"/>
                </a:solidFill>
              </a:rPr>
              <a:t>) are highly collinear (</a:t>
            </a:r>
            <a:r>
              <a:rPr b="1" lang="en-US" sz="1500">
                <a:solidFill>
                  <a:schemeClr val="lt1"/>
                </a:solidFill>
              </a:rPr>
              <a:t>up to 0.99</a:t>
            </a:r>
            <a:r>
              <a:rPr lang="en-US" sz="1500">
                <a:solidFill>
                  <a:schemeClr val="lt1"/>
                </a:solidFill>
              </a:rPr>
              <a:t>).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Action Item:</a:t>
            </a:r>
            <a:r>
              <a:rPr lang="en-US" sz="1500">
                <a:solidFill>
                  <a:schemeClr val="lt1"/>
                </a:solidFill>
              </a:rPr>
              <a:t> Consider dropping or combining the redundant loan amount features to prevent model overfitting.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850" y="1354200"/>
            <a:ext cx="5969574" cy="39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481802" y="4573775"/>
            <a:ext cx="952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Confusion Matrix Comparison of Machine Learning Models 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264300" y="484275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63875" y="63800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Loan-to-Income Ratio Analysis by Default Status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8615275" y="981750"/>
            <a:ext cx="2925900" cy="4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 boxplot compares the loan-to-income ratio between default and non-default customers.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Customers with </a:t>
            </a:r>
            <a:r>
              <a:rPr b="1" lang="en-US">
                <a:solidFill>
                  <a:schemeClr val="lt1"/>
                </a:solidFill>
              </a:rPr>
              <a:t>default status (1)</a:t>
            </a:r>
            <a:r>
              <a:rPr lang="en-US">
                <a:solidFill>
                  <a:schemeClr val="lt1"/>
                </a:solidFill>
              </a:rPr>
              <a:t> generally show slightly higher loan-to-income ratios compared to non-default customers.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Several outliers are present in both groups, indicating some customers have extremely high loan burdens relative to income.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A higher loan-to-income ratio may increase the likelihood of loan default.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075" y="900650"/>
            <a:ext cx="653415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39863"/>
            <a:ext cx="3365450" cy="5070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239863"/>
            <a:ext cx="3365450" cy="5070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39863"/>
            <a:ext cx="3365599" cy="5070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1152525" y="3373338"/>
            <a:ext cx="27136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Imbalance Problem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152525" y="4363938"/>
            <a:ext cx="2584400" cy="234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heavy 92% vs 8% split leads models like default LightGBM to converge toward predicting zero defaults, showing high accuracy but zero tracking capability.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4803725" y="3373338"/>
            <a:ext cx="271362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Strategic Importance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4803725" y="4363938"/>
            <a:ext cx="2584400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Because missing a default is drastically more expensive than a false alarm, standard overall Accuracy must be bypassed in favor of maximizing Recall.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8454925" y="3373338"/>
            <a:ext cx="271377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Optimization Goal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454925" y="4363938"/>
            <a:ext cx="25845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Selecting models that maintain balanced discriminant boundaries to capture high-risk default patterns effectively.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266848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3725" y="2668488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2668488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Managing Class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Imbalance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23"/>
          <p:cNvGraphicFramePr/>
          <p:nvPr/>
        </p:nvGraphicFramePr>
        <p:xfrm>
          <a:off x="617000" y="26248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{194AECD1-4F05-4F3D-A0D8-0E15833E3F2D}</a:tableStyleId>
              </a:tblPr>
              <a:tblGrid>
                <a:gridCol w="3663600"/>
                <a:gridCol w="4985750"/>
                <a:gridCol w="2163675"/>
              </a:tblGrid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Feature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Engineering Logic /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Risk Influence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EXT_SOURCE_2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Normalized External Credit Proxy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(Inverse)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LOAN_TO_INCOME_RATIO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AMT_CREDIT / AMT_INCOME_TOTAL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(Direct)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DAYS_BIRTH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 derived from application timestamp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Medium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AMT_CREDIT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principal amount requested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Medium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DAYS_EMPLOYED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Continuous employment duration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Medium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23"/>
          <p:cNvSpPr/>
          <p:nvPr/>
        </p:nvSpPr>
        <p:spPr>
          <a:xfrm>
            <a:off x="762000" y="3158281"/>
            <a:ext cx="3518594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4280594" y="3158281"/>
            <a:ext cx="498574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9266336" y="3158281"/>
            <a:ext cx="216366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62000" y="3696444"/>
            <a:ext cx="35185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4280594" y="3696444"/>
            <a:ext cx="49857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9266336" y="3696444"/>
            <a:ext cx="2163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762000" y="4220319"/>
            <a:ext cx="35185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280594" y="4220319"/>
            <a:ext cx="49857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9266336" y="4220319"/>
            <a:ext cx="2163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62000" y="4744194"/>
            <a:ext cx="35185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4280594" y="4744194"/>
            <a:ext cx="49857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9266336" y="4744194"/>
            <a:ext cx="2163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762000" y="5268069"/>
            <a:ext cx="35185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280594" y="5268069"/>
            <a:ext cx="49857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9266336" y="5268069"/>
            <a:ext cx="2163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62000" y="5791944"/>
            <a:ext cx="35185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4280594" y="5791944"/>
            <a:ext cx="49857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266336" y="5791944"/>
            <a:ext cx="21636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Feature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Configuration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762000" y="5009108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Analysis: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While LightGBM scores a high accuracy (91.93%), it fails entirely to find any defaults (0% Recall). </a:t>
            </a:r>
            <a:r>
              <a:rPr b="1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Logistic Regression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 selected as the optimal model, delivering the highest </a:t>
            </a:r>
            <a:r>
              <a:rPr b="1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Recall (0.5921)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best </a:t>
            </a:r>
            <a:r>
              <a:rPr b="1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ROC-AUC (0.6792)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graphicFrame>
        <p:nvGraphicFramePr>
          <p:cNvPr id="244" name="Google Shape;244;p24"/>
          <p:cNvGraphicFramePr/>
          <p:nvPr/>
        </p:nvGraphicFramePr>
        <p:xfrm>
          <a:off x="762000" y="25421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{194AECD1-4F05-4F3D-A0D8-0E15833E3F2D}</a:tableStyleId>
              </a:tblPr>
              <a:tblGrid>
                <a:gridCol w="3682450"/>
                <a:gridCol w="1472950"/>
                <a:gridCol w="1394825"/>
                <a:gridCol w="1160400"/>
                <a:gridCol w="1383650"/>
                <a:gridCol w="157370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Model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ROC-AUC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Logistic Regression (Best)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0.6624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0.1356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0.5921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0.2207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0.6792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Random Forest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0.6641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0.1351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0.5851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0.2195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0.6784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LightGBM (Imbalanced baseline)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0.9193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0.0000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0.0000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0.0000</a:t>
                      </a:r>
                      <a:endParaRPr>
                        <a:solidFill>
                          <a:srgbClr val="0A0A0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0.6284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066258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/>
          <p:nvPr/>
        </p:nvSpPr>
        <p:spPr>
          <a:xfrm>
            <a:off x="762000" y="3075533"/>
            <a:ext cx="3682454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444454" y="3075533"/>
            <a:ext cx="147295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917406" y="3075533"/>
            <a:ext cx="139481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7312223" y="3075533"/>
            <a:ext cx="116041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8472636" y="3075533"/>
            <a:ext cx="138365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9856291" y="3075533"/>
            <a:ext cx="157370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762000" y="3613695"/>
            <a:ext cx="3682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4444454" y="3613695"/>
            <a:ext cx="14729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917406" y="3613695"/>
            <a:ext cx="13948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7312223" y="3613695"/>
            <a:ext cx="11604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8472636" y="3613695"/>
            <a:ext cx="1383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9856291" y="3613695"/>
            <a:ext cx="15737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762000" y="4137570"/>
            <a:ext cx="3682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4444454" y="4137570"/>
            <a:ext cx="14729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917406" y="4137570"/>
            <a:ext cx="13948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7312223" y="4137570"/>
            <a:ext cx="11604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8472636" y="4137570"/>
            <a:ext cx="1383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9856291" y="4137570"/>
            <a:ext cx="15737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762000" y="4661445"/>
            <a:ext cx="3682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4444454" y="4661445"/>
            <a:ext cx="14729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5917406" y="4661445"/>
            <a:ext cx="13948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7312223" y="4661445"/>
            <a:ext cx="11604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8472636" y="4661445"/>
            <a:ext cx="1383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9856291" y="4661445"/>
            <a:ext cx="15737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Comparison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Benchmarks</a:t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481802" y="4573775"/>
            <a:ext cx="952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Confusion Matrix Comparison of Machine Learning Models </a:t>
            </a:r>
            <a:endParaRPr/>
          </a:p>
        </p:txBody>
      </p:sp>
      <p:pic>
        <p:nvPicPr>
          <p:cNvPr id="280" name="Google Shape;28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00" y="1467300"/>
            <a:ext cx="10913199" cy="35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264300" y="484275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263875" y="63800"/>
            <a:ext cx="8351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Confusion Matrix Comparison of Machine Learning Models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1481802" y="4573775"/>
            <a:ext cx="952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Confusion Matrix Comparison of Machine Learning Models 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1264300" y="484275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263875" y="63800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ROC Curve and AUC Score Comparison of Models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250" y="1252725"/>
            <a:ext cx="7333074" cy="42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8615275" y="981750"/>
            <a:ext cx="29259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The ROC curve compares the classification performance of Logistic Regression, Random Forest, and LightGBM models.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US" sz="1300">
                <a:solidFill>
                  <a:schemeClr val="lt1"/>
                </a:solidFill>
              </a:rPr>
              <a:t>Logistic Regression</a:t>
            </a:r>
            <a:r>
              <a:rPr lang="en-US" sz="1300">
                <a:solidFill>
                  <a:schemeClr val="lt1"/>
                </a:solidFill>
              </a:rPr>
              <a:t> and </a:t>
            </a:r>
            <a:r>
              <a:rPr b="1" lang="en-US" sz="1300">
                <a:solidFill>
                  <a:schemeClr val="lt1"/>
                </a:solidFill>
              </a:rPr>
              <a:t>Random Forest</a:t>
            </a:r>
            <a:r>
              <a:rPr lang="en-US" sz="1300">
                <a:solidFill>
                  <a:schemeClr val="lt1"/>
                </a:solidFill>
              </a:rPr>
              <a:t> show better performance with higher AUC scores (~0.68), indicating better ability to distinguish between default and non-default cases.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US" sz="1300">
                <a:solidFill>
                  <a:schemeClr val="lt1"/>
                </a:solidFill>
              </a:rPr>
              <a:t>LightGBM</a:t>
            </a:r>
            <a:r>
              <a:rPr lang="en-US" sz="1300">
                <a:solidFill>
                  <a:schemeClr val="lt1"/>
                </a:solidFill>
              </a:rPr>
              <a:t> has a lower AUC score (~0.63), showing weaker classification performance.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US" sz="1300">
                <a:solidFill>
                  <a:schemeClr val="lt1"/>
                </a:solidFill>
              </a:rPr>
              <a:t>The closer the ROC curve is to the top-left corner, the better the model performance.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1481802" y="4573775"/>
            <a:ext cx="952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Confusion Matrix Comparison of Machine Learning Models 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1264300" y="484275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263875" y="63800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Precision–Recall Curve Comparison of Models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8615275" y="981750"/>
            <a:ext cx="2925900" cy="48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The Precision–Recall curves evaluate how well the models identify default cases in an imbalanced dataset.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US" sz="1300">
                <a:solidFill>
                  <a:schemeClr val="lt1"/>
                </a:solidFill>
              </a:rPr>
              <a:t>Logistic Regression</a:t>
            </a:r>
            <a:r>
              <a:rPr lang="en-US" sz="1300">
                <a:solidFill>
                  <a:schemeClr val="lt1"/>
                </a:solidFill>
              </a:rPr>
              <a:t> and </a:t>
            </a:r>
            <a:r>
              <a:rPr b="1" lang="en-US" sz="1300">
                <a:solidFill>
                  <a:schemeClr val="lt1"/>
                </a:solidFill>
              </a:rPr>
              <a:t>Random Forest</a:t>
            </a:r>
            <a:r>
              <a:rPr lang="en-US" sz="1300">
                <a:solidFill>
                  <a:schemeClr val="lt1"/>
                </a:solidFill>
              </a:rPr>
              <a:t> maintain better precision and recall performance compared to LightGBM.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US" sz="1300">
                <a:solidFill>
                  <a:schemeClr val="lt1"/>
                </a:solidFill>
              </a:rPr>
              <a:t>LightGBM</a:t>
            </a:r>
            <a:r>
              <a:rPr lang="en-US" sz="1300">
                <a:solidFill>
                  <a:schemeClr val="lt1"/>
                </a:solidFill>
              </a:rPr>
              <a:t> shows lower precision as recall increases, indicating weaker detection of default cases.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US" sz="1300">
                <a:solidFill>
                  <a:schemeClr val="lt1"/>
                </a:solidFill>
              </a:rPr>
              <a:t>Curves above the baseline indicate better model performance, with Logistic Regression showing the most balanced results overall.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306" name="Google Shape;30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00" y="981750"/>
            <a:ext cx="7245550" cy="46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39863"/>
            <a:ext cx="5048250" cy="4641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9863"/>
            <a:ext cx="5048250" cy="464165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 txBox="1"/>
          <p:nvPr/>
        </p:nvSpPr>
        <p:spPr>
          <a:xfrm>
            <a:off x="1152525" y="2630388"/>
            <a:ext cx="448056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TreeExplainer Logic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1152525" y="3230463"/>
            <a:ext cx="42672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utilized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shap.TreeExplainer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quantify how each feature shifts the base prediction. This provides local interpretability for individual loan approvals.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6772275" y="2630388"/>
            <a:ext cx="448056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SHAP Predictors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7200900" y="3192363"/>
            <a:ext cx="38385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EXT_SOURCE_2: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Most significant impact.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7200900" y="4100810"/>
            <a:ext cx="38385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LOAN_TO_INCOME_RATIO: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Direct risk multiplier.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7200900" y="5009257"/>
            <a:ext cx="3838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AMT_CREDIT: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Key indicator of capacity.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7200900" y="5582542"/>
            <a:ext cx="38385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AMT_INCOME_TOTAL: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Stability verification.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Explainability with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SHAP</a:t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3" name="Google Shape;32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19236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41008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50092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558254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30797"/>
            <a:ext cx="5048250" cy="3674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30797"/>
            <a:ext cx="5048250" cy="367426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9"/>
          <p:cNvSpPr txBox="1"/>
          <p:nvPr/>
        </p:nvSpPr>
        <p:spPr>
          <a:xfrm>
            <a:off x="1152525" y="3464272"/>
            <a:ext cx="448056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Interface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1152525" y="4064347"/>
            <a:ext cx="42672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 interactive dashboard designed for credit analysts. Features 2-column input forms for rapid applicant data entry and multi-model parallel processing.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6772275" y="3464272"/>
            <a:ext cx="448056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Visual Outputs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6772275" y="4064347"/>
            <a:ext cx="42672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Probability results displayed via Plotly Gauge charts. Risk categorization follows a traffic-light protocol: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Green (Low)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Yellow (Med)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 (High)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338" name="Google Shape;33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2759422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75942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9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Streamlit Real-Time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Assessment</a:t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 txBox="1"/>
          <p:nvPr/>
        </p:nvSpPr>
        <p:spPr>
          <a:xfrm>
            <a:off x="1650444" y="2007840"/>
            <a:ext cx="88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2557462" y="3167955"/>
            <a:ext cx="707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3624262" y="4573785"/>
            <a:ext cx="49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626350" y="498750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DEPLOYMENT ENVIRONMENT(Home page)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375" y="1377400"/>
            <a:ext cx="10424726" cy="410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 txBox="1"/>
          <p:nvPr/>
        </p:nvSpPr>
        <p:spPr>
          <a:xfrm>
            <a:off x="389069" y="659465"/>
            <a:ext cx="88911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lt1"/>
                </a:solidFill>
              </a:rPr>
              <a:t>DEPLOYMENT ENVIRONMENT(low risk)</a:t>
            </a:r>
            <a:endParaRPr b="1" sz="33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2557462" y="3167955"/>
            <a:ext cx="707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8300" y="1571675"/>
            <a:ext cx="9076327" cy="445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/>
        </p:nvSpPr>
        <p:spPr>
          <a:xfrm>
            <a:off x="389069" y="659465"/>
            <a:ext cx="88911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300">
                <a:solidFill>
                  <a:schemeClr val="lt1"/>
                </a:solidFill>
              </a:rPr>
              <a:t>DEPLOYMENT ENVIRONMENT(Medium risk)</a:t>
            </a:r>
            <a:endParaRPr b="1" sz="33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9" name="Google Shape;369;p32"/>
          <p:cNvSpPr txBox="1"/>
          <p:nvPr/>
        </p:nvSpPr>
        <p:spPr>
          <a:xfrm>
            <a:off x="2557462" y="3167955"/>
            <a:ext cx="707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370" name="Google Shape;37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2325" y="1383200"/>
            <a:ext cx="10366752" cy="4538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389069" y="659465"/>
            <a:ext cx="88911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300">
                <a:solidFill>
                  <a:schemeClr val="lt1"/>
                </a:solidFill>
              </a:rPr>
              <a:t>DEPLOYMENT ENVIRONMENT(High Risk)</a:t>
            </a:r>
            <a:endParaRPr b="1" sz="33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8" name="Google Shape;378;p33"/>
          <p:cNvSpPr txBox="1"/>
          <p:nvPr/>
        </p:nvSpPr>
        <p:spPr>
          <a:xfrm>
            <a:off x="2557462" y="3167955"/>
            <a:ext cx="707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325" y="1383200"/>
            <a:ext cx="9424325" cy="436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39863"/>
            <a:ext cx="10668000" cy="473868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4"/>
          <p:cNvSpPr txBox="1"/>
          <p:nvPr/>
        </p:nvSpPr>
        <p:spPr>
          <a:xfrm>
            <a:off x="1762125" y="2868513"/>
            <a:ext cx="9191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Accuracy Paradox: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model predicting that no one defaults achieves 91.93% accuracy but holds zero business utility.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1762125" y="3776960"/>
            <a:ext cx="9191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Model Selection: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Logistic Regression successfully breaks majority class bias to surface **59.21%** of actual risk occurrences.</a:t>
            </a:r>
            <a:endParaRPr/>
          </a:p>
        </p:txBody>
      </p:sp>
      <p:sp>
        <p:nvSpPr>
          <p:cNvPr id="388" name="Google Shape;388;p34"/>
          <p:cNvSpPr txBox="1"/>
          <p:nvPr/>
        </p:nvSpPr>
        <p:spPr>
          <a:xfrm>
            <a:off x="1762125" y="4685407"/>
            <a:ext cx="9191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Interpretability: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SHAP integration matches feature selections directly against individual customer application scores for regulatory transparent reporting.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1762125" y="5593853"/>
            <a:ext cx="9191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Feature Engineering: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Ratios like `LOAN_TO_INCOME_RATIO` provided significantly stronger predictive weights during separation tasks.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1000125" y="1173063"/>
            <a:ext cx="109513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Strategic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Takeaways</a:t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762000" y="11730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2" name="Google Shape;39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86851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7769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46854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55938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0" name="Google Shape;4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9600" y="3733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5"/>
          <p:cNvSpPr txBox="1"/>
          <p:nvPr/>
        </p:nvSpPr>
        <p:spPr>
          <a:xfrm>
            <a:off x="1650444" y="2007840"/>
            <a:ext cx="889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1481802" y="4573775"/>
            <a:ext cx="952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Team Members:-Sreekutty Santhosh,Laniya Mohan,Theertha Vijayachandran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
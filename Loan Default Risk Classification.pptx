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Inter SemiBold"/>
      <p:regular r:id="rId18"/>
      <p:bold r:id="rId19"/>
      <p:italic r:id="rId20"/>
      <p:boldItalic r:id="rId21"/>
    </p:embeddedFont>
    <p:embeddedFont>
      <p:font typeface="Inter"/>
      <p:regular r:id="rId22"/>
      <p:bold r:id="rId23"/>
      <p:italic r:id="rId24"/>
      <p:boldItalic r:id="rId25"/>
    </p:embeddedFont>
    <p:embeddedFont>
      <p:font typeface="Outfit"/>
      <p:regular r:id="rId26"/>
      <p:bold r:id="rId27"/>
    </p:embeddedFont>
    <p:embeddedFont>
      <p:font typeface="Outfit SemiBo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208440-AB47-4C9C-977C-904B97850082}">
  <a:tblStyle styleId="{7C208440-AB47-4C9C-977C-904B9785008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italic.fntdata"/><Relationship Id="rId22" Type="http://schemas.openxmlformats.org/officeDocument/2006/relationships/font" Target="fonts/Inter-regular.fntdata"/><Relationship Id="rId21" Type="http://schemas.openxmlformats.org/officeDocument/2006/relationships/font" Target="fonts/InterSemiBold-boldItalic.fntdata"/><Relationship Id="rId24" Type="http://schemas.openxmlformats.org/officeDocument/2006/relationships/font" Target="fonts/Inter-italic.fntdata"/><Relationship Id="rId23" Type="http://schemas.openxmlformats.org/officeDocument/2006/relationships/font" Target="fonts/Inter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utfit-regular.fntdata"/><Relationship Id="rId25" Type="http://schemas.openxmlformats.org/officeDocument/2006/relationships/font" Target="fonts/Inter-boldItalic.fntdata"/><Relationship Id="rId28" Type="http://schemas.openxmlformats.org/officeDocument/2006/relationships/font" Target="fonts/OutfitSemiBold-regular.fntdata"/><Relationship Id="rId27" Type="http://schemas.openxmlformats.org/officeDocument/2006/relationships/font" Target="fonts/Outfi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utfit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SemiBold-bold.fntdata"/><Relationship Id="rId18" Type="http://schemas.openxmlformats.org/officeDocument/2006/relationships/font" Target="fonts/Inter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25faefb8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e25faefb82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25faefb8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e25faefb82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e25faefb8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e25faefb82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9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1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0" y="4592835"/>
            <a:ext cx="5715000" cy="9620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62000" y="1303139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B981"/>
                </a:solidFill>
                <a:latin typeface="Inter"/>
                <a:ea typeface="Inter"/>
                <a:cs typeface="Inter"/>
                <a:sym typeface="Inter"/>
              </a:rPr>
              <a:t>CREDIT RISK ANALYTICS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95300" y="1731764"/>
            <a:ext cx="1120140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Loan Default Risk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 Classification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621285"/>
            <a:ext cx="10668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Predictive Modeling and Strategic Technical Benchmarking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238500" y="4983360"/>
            <a:ext cx="5715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Sreekutty Santhosh • Laniya Mohan • Theertha Vijayachandran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543175"/>
            <a:ext cx="3403550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4150" y="2543175"/>
            <a:ext cx="3403550" cy="2676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26300" y="2543175"/>
            <a:ext cx="3403699" cy="26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990600" y="571500"/>
            <a:ext cx="1096137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DATA METHODOLOGY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762000" y="571500"/>
            <a:ext cx="7620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76325" y="285750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1076325" y="3314700"/>
            <a:ext cx="291364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Preprocessing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76325" y="3762375"/>
            <a:ext cx="27749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Execution of median/mode imputation and removal of features with high sparsity (&gt;50% missingness).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08475" y="2650850"/>
            <a:ext cx="2667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4708475" y="3042188"/>
            <a:ext cx="2913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Engineering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708475" y="3451850"/>
            <a:ext cx="27750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Development of critical financial indicators: Debt-to-Income, Annuity-to-Income, and Payment Ratios.</a:t>
            </a:r>
            <a:endParaRPr/>
          </a:p>
        </p:txBody>
      </p:sp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40625" y="2857500"/>
            <a:ext cx="3810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8340625" y="3314700"/>
            <a:ext cx="291380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SMOTE Strategy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340625" y="3762375"/>
            <a:ext cx="27750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Utilized Synthetic Minority Over-sampling to address the inherent skew in default distributions.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990600" y="571500"/>
            <a:ext cx="1096137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TECHNICAL BENCHMARKING</a:t>
            </a: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762000" y="571500"/>
            <a:ext cx="7620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6" name="Google Shape;116;p15"/>
          <p:cNvGraphicFramePr/>
          <p:nvPr/>
        </p:nvGraphicFramePr>
        <p:xfrm>
          <a:off x="762000" y="2324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{7C208440-AB47-4C9C-977C-904B97850082}</a:tableStyleId>
              </a:tblPr>
              <a:tblGrid>
                <a:gridCol w="3978325"/>
                <a:gridCol w="1757500"/>
                <a:gridCol w="1716575"/>
                <a:gridCol w="1430525"/>
                <a:gridCol w="1785050"/>
              </a:tblGrid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Model Architecture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Accuracy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Precision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Recall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ROC-AUC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Logistic Regression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0.6624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0.1356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0.5921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F172A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0.6792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0B981"/>
                    </a:solidFill>
                  </a:tcPr>
                </a:tc>
              </a:tr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Random Forest Classifier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0.6641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0.1351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0.5851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0.6784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3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LightGBM (Gradient Boost)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0.9193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75569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0.6284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" name="Google Shape;117;p15"/>
          <p:cNvSpPr txBox="1"/>
          <p:nvPr/>
        </p:nvSpPr>
        <p:spPr>
          <a:xfrm>
            <a:off x="762000" y="5248275"/>
            <a:ext cx="10668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Note: </a:t>
            </a:r>
            <a:r>
              <a:rPr b="1" i="1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Logistic Regression</a:t>
            </a:r>
            <a:r>
              <a:rPr b="0" i="1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is the champion model, offering the highest Recall and ROC-AUC for risk identification.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762000" y="3576637"/>
            <a:ext cx="39783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4740324" y="3576637"/>
            <a:ext cx="17575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6497835" y="3576637"/>
            <a:ext cx="1716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8214419" y="3576637"/>
            <a:ext cx="14305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9644955" y="3576637"/>
            <a:ext cx="17850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762000" y="4214812"/>
            <a:ext cx="39783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4740324" y="4214812"/>
            <a:ext cx="17575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6497835" y="4214812"/>
            <a:ext cx="1716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8214419" y="4214812"/>
            <a:ext cx="14305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9644955" y="4214812"/>
            <a:ext cx="17850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762000" y="4852987"/>
            <a:ext cx="39783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4740324" y="4852987"/>
            <a:ext cx="175751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6497835" y="4852987"/>
            <a:ext cx="171658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8214419" y="4852987"/>
            <a:ext cx="143053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9644955" y="4852987"/>
            <a:ext cx="178504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752725"/>
            <a:ext cx="5048250" cy="22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990600" y="571500"/>
            <a:ext cx="1096137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THE RECALL PRIORITY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762000" y="571500"/>
            <a:ext cx="7620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762000" y="2752725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Safety over Accuracy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62000" y="3200400"/>
            <a:ext cx="5048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 lending, the cost of a missed default (Type II Error) is significantly higher than a false rejection. Our framework prioritizes the model that actually "detects" the defaulters.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6715125" y="3086100"/>
            <a:ext cx="460057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The LightGBM Failure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715125" y="3533775"/>
            <a:ext cx="4381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Despite 91% accuracy, LightGBM failed to identify any defaults (Recall = 0). It optimized for the majority class, making it useless for proactive credit risk mitigation.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7"/>
          <p:cNvSpPr txBox="1"/>
          <p:nvPr/>
        </p:nvSpPr>
        <p:spPr>
          <a:xfrm>
            <a:off x="990600" y="571500"/>
            <a:ext cx="1096137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KEY RISK PREDICTORS</a:t>
            </a:r>
            <a:endParaRPr/>
          </a:p>
        </p:txBody>
      </p:sp>
      <p:sp>
        <p:nvSpPr>
          <p:cNvPr id="151" name="Google Shape;151;p17"/>
          <p:cNvSpPr/>
          <p:nvPr/>
        </p:nvSpPr>
        <p:spPr>
          <a:xfrm>
            <a:off x="762000" y="571500"/>
            <a:ext cx="7620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762000" y="2943225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Critical Indicators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8625" y="3024187"/>
            <a:ext cx="1714500" cy="171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762000" y="339090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EXT_SOURCE (1, 2, 3):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Third-party bureau ratings.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762000" y="386715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Days Employed: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Work history stability.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4343400"/>
            <a:ext cx="5048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Credit-to-Annuity: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Repayment burden.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43376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91001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4386262"/>
            <a:ext cx="19050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615300" y="63600"/>
            <a:ext cx="1096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DEPLOYMENT </a:t>
            </a:r>
            <a:r>
              <a:rPr b="1" lang="en-US" sz="33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ENVIRONMENT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1890850" y="5562425"/>
            <a:ext cx="8995500" cy="7239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2895775" y="5843525"/>
            <a:ext cx="6351300" cy="3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50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          </a:t>
            </a:r>
            <a:r>
              <a:rPr b="0" i="0" lang="en-US" sz="215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Main System Dashboard</a:t>
            </a:r>
            <a:endParaRPr sz="2500"/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2650" y="1521225"/>
            <a:ext cx="8824925" cy="381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 txBox="1"/>
          <p:nvPr/>
        </p:nvSpPr>
        <p:spPr>
          <a:xfrm>
            <a:off x="615300" y="63600"/>
            <a:ext cx="1096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DEPLOYMENT </a:t>
            </a:r>
            <a:r>
              <a:rPr b="1" lang="en-US" sz="33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ENVIRONMENT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1943350" y="5444675"/>
            <a:ext cx="8995500" cy="7239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0850" y="765800"/>
            <a:ext cx="8903625" cy="448457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2566113" y="5457000"/>
            <a:ext cx="7553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Low risk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615300" y="63600"/>
            <a:ext cx="1096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DEPLOYMENT </a:t>
            </a:r>
            <a:r>
              <a:rPr b="1" lang="en-US" sz="33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ENVIRONMENT</a:t>
            </a:r>
            <a:endParaRPr/>
          </a:p>
        </p:txBody>
      </p:sp>
      <p:sp>
        <p:nvSpPr>
          <p:cNvPr id="184" name="Google Shape;184;p20"/>
          <p:cNvSpPr/>
          <p:nvPr/>
        </p:nvSpPr>
        <p:spPr>
          <a:xfrm>
            <a:off x="1943350" y="5444675"/>
            <a:ext cx="8995500" cy="7239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566113" y="5457000"/>
            <a:ext cx="7553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Medium risk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0275" y="805900"/>
            <a:ext cx="8833101" cy="45720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35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615300" y="63600"/>
            <a:ext cx="1096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DEPLOYMENT </a:t>
            </a:r>
            <a:r>
              <a:rPr b="1" lang="en-US" sz="3300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ENVIRONMENT</a:t>
            </a:r>
            <a:endParaRPr/>
          </a:p>
        </p:txBody>
      </p:sp>
      <p:sp>
        <p:nvSpPr>
          <p:cNvPr id="193" name="Google Shape;193;p21"/>
          <p:cNvSpPr/>
          <p:nvPr/>
        </p:nvSpPr>
        <p:spPr>
          <a:xfrm>
            <a:off x="1943350" y="5444675"/>
            <a:ext cx="8995500" cy="7239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1"/>
          <p:cNvSpPr txBox="1"/>
          <p:nvPr/>
        </p:nvSpPr>
        <p:spPr>
          <a:xfrm>
            <a:off x="2566113" y="5457000"/>
            <a:ext cx="75531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High risk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43350" y="1077125"/>
            <a:ext cx="8933874" cy="4223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048125"/>
            <a:ext cx="10668000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2"/>
          <p:cNvSpPr txBox="1"/>
          <p:nvPr/>
        </p:nvSpPr>
        <p:spPr>
          <a:xfrm>
            <a:off x="990600" y="571500"/>
            <a:ext cx="1096137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0F172A"/>
                </a:solidFill>
                <a:latin typeface="Outfit"/>
                <a:ea typeface="Outfit"/>
                <a:cs typeface="Outfit"/>
                <a:sym typeface="Outfit"/>
              </a:rPr>
              <a:t>STRATEGIC CONCLUSION</a:t>
            </a:r>
            <a:endParaRPr/>
          </a:p>
        </p:txBody>
      </p:sp>
      <p:sp>
        <p:nvSpPr>
          <p:cNvPr id="203" name="Google Shape;203;p22"/>
          <p:cNvSpPr/>
          <p:nvPr/>
        </p:nvSpPr>
        <p:spPr>
          <a:xfrm>
            <a:off x="762000" y="571500"/>
            <a:ext cx="76200" cy="5238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1143000" y="4429125"/>
            <a:ext cx="9906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"By prioritizing technical sensitivity over raw accuracy, this framework provides a robust, real-time defense against credit delinquency."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762000" y="2266950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Model Impact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762000" y="2714625"/>
            <a:ext cx="50482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Deploying a model with a </a:t>
            </a:r>
            <a:r>
              <a:rPr b="1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Recall of 0.59</a:t>
            </a: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allows the institution to flag nearly 60% of potential losses at the intake stage, preserving capital and increasing overall portfolio health.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6381750" y="2266950"/>
            <a:ext cx="5300662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0F172A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Future Scalability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6381750" y="2714625"/>
            <a:ext cx="5048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Future iterations will involve hyperparameter tuning on SMOTE variants and the inclusion of ensemble voting to push Recall closer to the 80% benchmark.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3" name="Google Shape;21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3"/>
          <p:cNvSpPr txBox="1"/>
          <p:nvPr/>
        </p:nvSpPr>
        <p:spPr>
          <a:xfrm>
            <a:off x="495300" y="1743075"/>
            <a:ext cx="112014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Thank You</a:t>
            </a:r>
            <a:endParaRPr/>
          </a:p>
        </p:txBody>
      </p:sp>
      <p:sp>
        <p:nvSpPr>
          <p:cNvPr id="215" name="Google Shape;215;p23"/>
          <p:cNvSpPr txBox="1"/>
          <p:nvPr/>
        </p:nvSpPr>
        <p:spPr>
          <a:xfrm>
            <a:off x="0" y="4378100"/>
            <a:ext cx="1066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              </a:t>
            </a:r>
            <a:r>
              <a:rPr b="1" i="0" lang="en-US" sz="18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Project Team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16" name="Google Shape;216;p23"/>
          <p:cNvSpPr txBox="1"/>
          <p:nvPr/>
        </p:nvSpPr>
        <p:spPr>
          <a:xfrm>
            <a:off x="762000" y="4829175"/>
            <a:ext cx="1066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Sreekutty Santhosh | Laniya Mohan | Theertha Vijayachandran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